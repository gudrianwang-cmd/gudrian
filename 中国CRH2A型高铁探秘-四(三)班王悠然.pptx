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大家好！今天我要带大家一起探秘我们中国非常经典的一款高铁——CRH2A型动车组。它就像一位奔跑的先行者，见证了中国高铁从无到有、从弱到强的辉煌历程。让我们一起出发吧！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来认识一下今天的主角——CRH2A。大家看到这个名字可能会觉得有点奇怪，其实它是“中国高速铁路”的英文缩写。CRH2A就是我们国家最早一批大规模运行的高铁之一，它的最高速度能达到每小时250公里，非常快！这趟车在2007年第六次大提速时，首次出现在大家的视野里，从此开启了我们的高铁出行时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大家看，CRH2A的车身是不是又细又长？因为这个特点，它还有一个非常可爱的外号，叫做“带鱼号”。大家看右边的图片，是不是和真正的带鱼有点像呢？这个外号是不是很有趣？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我们来看看CRH2A的“个人档案”。它在2006年诞生，2007年正式开始工作。它有8节车厢，最多可以坐610个人。它的特长非常多，跑得快、坐得稳，而且很环保哦！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接下来，让我们一起坐上时光机，回顾一下CRH2A的发展历程，看看它是如何从学习别人的技术，一步步成为我们中国高铁领跑世界的起点的。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故事要从2004年说起。那时候，我们国家下定决心，要向世界上最先进的国家学习造高铁的技术。经过层层筛选和严格的招标，我们最终选择了日本川崎重工的新干线E2系技术，也就是大家左边卡片上看到的这列火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我们没有简单地只买几列火车来用，而是买了技术，引进了生产线。这就像我们去买了一本非常厉害的“武功秘籍”，不仅要看，还要照着练，甚至要把每一招每一式都拆解研究透彻。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当时的合同里，我们定了60列的数量。其中，只有3列是从日本整车原装进口的，剩下的57列，都要求在中国的工厂里，由我们的工人组装和制造。这就是我们常说的“引进、消化、吸收”三步走的第一步。右边的图片展示的CRH2A，就是这一时期国产化的重要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到了2006年，我们的国产化之路迈出了关键一步。这一年里，我们经历了从“引入”到“制造”的巨大跨越。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3月，首列原装进口的CRH2A运抵青岛，它是我们的老师。仅仅四个月后的7月，我们就在中车青岛四方工厂，成功造出了第一列完全由本土制造的CRH2A。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这一“下线”，标志着我们不再仅仅是学习者，更成为了合格的“练功人”，把技术真正变成了自己的能力。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2007年4月18日，CRH2A正式开始了它的职业生涯！在全国铁路第六次大提速中，它成为了绝对的主力，让我们国家进入了全新的高铁时代。大家可以想象一下，以前坐火车需要很长时间，现在有了CRH2A，时间大大缩短了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CRH2A跑得又快又稳，还很节能，这背后藏着很多高科技秘密。接下来，就让我们一起揭开这些秘密吧！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它为什么能跑这么快呢？秘密就在于它强大的动力系统。CRH2A有8节车厢，其中4节都装有强大的电动机，就像有四条有力的腿在使劲跑。它的总功率非常惊人，相当于好几千辆小汽车的马力加起来！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铁还有一个聪明的“大脑”，叫做IGBT芯片。它非常非常小，但作用巨大，能够精确地控制高铁的速度。以前我们不会造这个芯片，只能从国外买。后来，我们国家的科学家们努力研究，终于自己造出来了，这是非常了不起的成就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了解了CRH2A的外部和技术，大家是不是也很好奇它的内部是什么样子的呢？接下来，就让我们一起走进车厢，看看里面有什么有趣的设计吧！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大家看，这就是CRH2A的车厢内部。是不是感觉很宽敞、很明亮？座椅很舒服，还可以调节，就像坐在家里的沙发上一样。设计师们为了让我们坐得舒服，可是花了很多心思呢！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火车头里面是什么样的呢？这里就是神奇的驾驶舱！大家看，这里有好多屏幕和按钮，就像飞机的驾驶舱一样，这可是整列高铁的“大脑”。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驾驶员叔叔阿姨就是在这里，盯着屏幕，精准地操作每一个按钮，全神贯注地控制整列火车。他们需要非常专注，因为他们是列车安全和准时的守护者。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另外，大家注意到没有，驾驶舱的视野非常开阔，能一眼望到前方很远的轨道，这样才能让我们安全、平稳地飞驰在祖国的大地上。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CRH2A还有很多兄弟姐妹呢！比如更长的CRH2B，还有可以睡觉的CRH2E卧铺高铁。它们组成了一个大家庭，满足了我们不同的出行需求。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CRH2A就像一位伟大的先行者，它教会了我们如何造高铁。正是因为有了它，我们才能在后来造出像复兴号这样更先进、更快的高铁，让我们的高铁网络遍布全国，走向世界！它真是一位了不起的“大功臣”！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就要结束了，现在来考考大家，看看谁听得最认真！第一个问题，CRH2A的外号叫什么？第二个问题，它有几节车厢？第三个问题，它在哪次大提速中正式运营？最后一个，它的“大脑”是什么？大家知道答案吗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我的介绍到此结束，谢谢大家的聆听！希望通过今天的分享，大家能更加了解我们国家的高铁，为我们伟大的祖国感到骄傲和自豪！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bilibili.com/video/BV141fHYZEWD?vd_source=727f4a25e5246185b68f4e67fe782d62" TargetMode="Externa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2.svg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2.xml"/><Relationship Id="rId24" Type="http://schemas.openxmlformats.org/officeDocument/2006/relationships/image" Target="../media/image22.svg"/><Relationship Id="rId23" Type="http://schemas.openxmlformats.org/officeDocument/2006/relationships/image" Target="../media/image21.png"/><Relationship Id="rId22" Type="http://schemas.openxmlformats.org/officeDocument/2006/relationships/tags" Target="../tags/tag11.xml"/><Relationship Id="rId21" Type="http://schemas.openxmlformats.org/officeDocument/2006/relationships/tags" Target="../tags/tag10.xml"/><Relationship Id="rId20" Type="http://schemas.openxmlformats.org/officeDocument/2006/relationships/tags" Target="../tags/tag9.xml"/><Relationship Id="rId2" Type="http://schemas.openxmlformats.org/officeDocument/2006/relationships/image" Target="../media/image11.png"/><Relationship Id="rId19" Type="http://schemas.openxmlformats.org/officeDocument/2006/relationships/image" Target="../media/image20.svg"/><Relationship Id="rId18" Type="http://schemas.openxmlformats.org/officeDocument/2006/relationships/image" Target="../media/image19.png"/><Relationship Id="rId17" Type="http://schemas.openxmlformats.org/officeDocument/2006/relationships/tags" Target="../tags/tag8.xml"/><Relationship Id="rId16" Type="http://schemas.openxmlformats.org/officeDocument/2006/relationships/tags" Target="../tags/tag7.xml"/><Relationship Id="rId15" Type="http://schemas.openxmlformats.org/officeDocument/2006/relationships/image" Target="../media/image18.svg"/><Relationship Id="rId14" Type="http://schemas.openxmlformats.org/officeDocument/2006/relationships/image" Target="../media/image17.png"/><Relationship Id="rId13" Type="http://schemas.openxmlformats.org/officeDocument/2006/relationships/tags" Target="../tags/tag6.xml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9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jpe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image" Target="../media/image68.jpe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67.jpe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69.jpeg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73.svg"/><Relationship Id="rId4" Type="http://schemas.openxmlformats.org/officeDocument/2006/relationships/image" Target="../media/image72.png"/><Relationship Id="rId3" Type="http://schemas.openxmlformats.org/officeDocument/2006/relationships/tags" Target="../tags/tag23.xml"/><Relationship Id="rId20" Type="http://schemas.openxmlformats.org/officeDocument/2006/relationships/notesSlide" Target="../notesSlides/notesSlide17.xml"/><Relationship Id="rId2" Type="http://schemas.openxmlformats.org/officeDocument/2006/relationships/tags" Target="../tags/tag2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32.xml"/><Relationship Id="rId17" Type="http://schemas.openxmlformats.org/officeDocument/2006/relationships/image" Target="../media/image39.svg"/><Relationship Id="rId16" Type="http://schemas.openxmlformats.org/officeDocument/2006/relationships/image" Target="../media/image38.png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image" Target="../media/image75.sv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image" Target="../media/image7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中国高铁先行者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CRH2A型动车组探秘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56000" y="5207000"/>
            <a:ext cx="5080000" cy="1143000"/>
          </a:xfrm>
          <a:prstGeom prst="roundRect">
            <a:avLst>
              <a:gd name="adj" fmla="val 13333"/>
            </a:avLst>
          </a:prstGeom>
          <a:solidFill>
            <a:srgbClr val="111827">
              <a:alpha val="75000"/>
            </a:srgbClr>
          </a:solidFill>
          <a:ln w="25400" cap="flat" cmpd="sng">
            <a:solidFill>
              <a:srgbClr val="42A5F5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556000" y="5359400"/>
            <a:ext cx="5080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主讲人：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王悠然</a:t>
            </a:r>
            <a:endParaRPr 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今天的主角——CRH2A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4719" r="14719"/>
          <a:stretch>
            <a:fillRect/>
          </a:stretch>
        </p:blipFill>
        <p:spPr>
          <a:xfrm>
            <a:off x="762000" y="1297940"/>
            <a:ext cx="4572000" cy="4318000"/>
          </a:xfrm>
          <a:prstGeom prst="roundRect">
            <a:avLst>
              <a:gd name="adj" fmla="val 4705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715000" y="1297940"/>
            <a:ext cx="5715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969000" y="1488440"/>
            <a:ext cx="520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🚄 速度与舒适并存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CRH2A是我国最早大批量生产和运行的高铁动车组之一。它的设计最高时速可达</a:t>
            </a:r>
            <a:r>
              <a:rPr lang="en-US" sz="1600" b="1" i="0" u="none" strike="noStrike">
                <a:solidFill>
                  <a:srgbClr val="F57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250 公里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，相当于每分钟能跑超过4公里！它的出现，彻底改变了我们的出行方式，让旅途变得更快捷、更舒适。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0" y="3710940"/>
            <a:ext cx="1778000" cy="1905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7400" y="390144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350000" y="3901440"/>
            <a:ext cx="107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453644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“中国高速铁路”</a:t>
            </a:r>
            <a:b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的英文缩写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83500" y="3710940"/>
            <a:ext cx="1778000" cy="1905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5900" y="390144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18500" y="3901440"/>
            <a:ext cx="107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 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10500" y="453644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代表引进自日本</a:t>
            </a:r>
            <a:b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的技术平台系列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0" y="3710940"/>
            <a:ext cx="1778000" cy="1905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00" y="390144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287000" y="3901440"/>
            <a:ext cx="107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字母 A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79000" y="453644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代表该系列下的</a:t>
            </a:r>
            <a:b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第一个型号</a:t>
            </a:r>
            <a:endParaRPr lang="en-US" sz="1100"/>
          </a:p>
        </p:txBody>
      </p:sp>
      <p:sp>
        <p:nvSpPr>
          <p:cNvPr id="19" name="文本框 18"/>
          <p:cNvSpPr txBox="1"/>
          <p:nvPr/>
        </p:nvSpPr>
        <p:spPr>
          <a:xfrm>
            <a:off x="2535555" y="5960110"/>
            <a:ext cx="83064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【</a:t>
            </a:r>
            <a:r>
              <a:rPr lang="en-US" altLang="zh-CN"/>
              <a:t>CRH2A</a:t>
            </a:r>
            <a:r>
              <a:rPr lang="zh-CN" altLang="en-US"/>
              <a:t>动车组】</a:t>
            </a:r>
            <a:r>
              <a:rPr lang="en-US" altLang="zh-CN">
                <a:hlinkClick r:id="rId9" tooltip="" action="ppaction://hlinkfile"/>
              </a:rPr>
              <a:t>https://www.bilibili.com/video/BV141fHYZEWD?vd_source=727f4a25e5246185b68f4e67fe782d62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它的可爱外号：“带鱼”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2A5F5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1523" b="11523"/>
          <a:stretch>
            <a:fillRect/>
          </a:stretch>
        </p:blipFill>
        <p:spPr>
          <a:xfrm>
            <a:off x="889000" y="1778000"/>
            <a:ext cx="4953000" cy="254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223000" y="1651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2A5F5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4699000"/>
            <a:ext cx="106680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4953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📢 外号的由来：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因为CRH2A的车身非常细长，而且是流线型的，跑起来就像一条在水里快速游动的带鱼，所以铁路迷们亲切地给它起了个外号——“带鱼”。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20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是不是很形象呢？ ✨</a:t>
            </a:r>
            <a:endParaRPr lang="en-US" sz="2000" b="1" i="0" u="none" strike="noStrike">
              <a:solidFill>
                <a:srgbClr val="EC48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图片 9" descr="带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245" y="1909445"/>
            <a:ext cx="5108575" cy="2291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CRH2A的“个人档案”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685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出生日期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2006年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032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5715000" y="1968500"/>
            <a:ext cx="195072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正式工作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2007年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(全国铁路第六次大提速)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2032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9398000" y="1968500"/>
            <a:ext cx="1984375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家庭成员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共8节车厢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(4节有动力 / 4节无动力)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45720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45085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最高速度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250 公里/小时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4445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99000" y="45720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5715000" y="45085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座位数量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610 个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8128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2000" y="45720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9398000" y="45085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特长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跑得快 · 坐得稳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噪音小 · 节能环保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发展历程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937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从学习到领跑的第一步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 · 中国高铁进阶之路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第一步：技术引进（2004年）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2187" r="22187"/>
          <a:stretch>
            <a:fillRect/>
          </a:stretch>
        </p:blipFill>
        <p:spPr>
          <a:xfrm>
            <a:off x="952500" y="1778000"/>
            <a:ext cx="1905000" cy="2286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048000" y="1778000"/>
            <a:ext cx="2811145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日本</a:t>
            </a: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技术原型：新干线E2系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2004年通过严格的全球招标，我们最终选择了日本川崎重工的成熟技术方案。它是CRH2A动车组的“开山鼻祖”，也是我们高铁梦开始的“老师”。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21857" r="21857"/>
          <a:stretch>
            <a:fillRect/>
          </a:stretch>
        </p:blipFill>
        <p:spPr>
          <a:xfrm>
            <a:off x="6413500" y="1778000"/>
            <a:ext cx="1905000" cy="2286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509000" y="17780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中国国产化起点：CRH2A</a:t>
            </a:r>
            <a:endParaRPr lang="en-US" sz="1800" b="1">
              <a:solidFill>
                <a:srgbClr val="42A5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基于引进技术，国内工厂迅速开启了制造工作。这不仅是“照猫画虎”的复制，更是一场对精密制造标准的全面学习和追赶。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508500"/>
            <a:ext cx="10668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7625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762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像读一本“武功秘籍”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先“照猫画虎”练招式，记熟心法，为后续“青出于蓝”打下坚实基础。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4762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80000" y="4762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📋 引进模式与规模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规模：签署60列制造合同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模式：3列进口+57列国内组装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47625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4762500"/>
            <a:ext cx="266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技术联系与优化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借鉴新干线E2系设计，结合国情改进车身结构与线路适应性，并非简单复制。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第二步：国产化之路（2006年）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学习了技术之后，我们开始在自己的工厂里制造。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24197" r="24197"/>
          <a:stretch>
            <a:fillRect/>
          </a:stretch>
        </p:blipFill>
        <p:spPr>
          <a:xfrm>
            <a:off x="952500" y="2476500"/>
            <a:ext cx="2032000" cy="2286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175000" y="24765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2006年3月 · 引入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第一列从日本原装进口的 CRH2A 动车组，跨越重洋，运抵了中国青岛。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21500" r="21499"/>
          <a:stretch>
            <a:fillRect/>
          </a:stretch>
        </p:blipFill>
        <p:spPr>
          <a:xfrm>
            <a:off x="6413500" y="2476500"/>
            <a:ext cx="2032000" cy="2286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636000" y="24765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2006年7月 · 制造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第一列在中国本土工厂制造的 CRH2A 成功下线！我们不仅学会了“秘籍”，更开始自己动手“练功”了。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42A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5461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159000" y="53975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这一历史性时刻发生在著名的</a:t>
            </a:r>
            <a:r>
              <a:rPr lang="en-US" sz="1800" b="1" i="0" u="none" strike="noStrike">
                <a:solidFill>
                  <a:srgbClr val="FFEB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“中车青岛四方”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工厂，标志着中国高铁制造能力的正式觉醒。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第三步：正式运营（2007年）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155" b="1155"/>
          <a:stretch>
            <a:fillRect/>
          </a:stretch>
        </p:blipFill>
        <p:spPr>
          <a:xfrm>
            <a:off x="952500" y="1968500"/>
            <a:ext cx="4699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520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2007年 · 全国铁路第六次大提速纪念场景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133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2007年4月18日：里程碑时刻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3048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这一天，全国铁路迎来了激动人心的</a:t>
            </a:r>
            <a:r>
              <a:rPr lang="en-US" sz="1500" b="1" i="0" u="none" strike="noStrike">
                <a:solidFill>
                  <a:srgbClr val="D81B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“第六次</a:t>
            </a:r>
            <a:r>
              <a:rPr lang="zh-CN" altLang="en-US" sz="1500" b="1" i="0" u="none" strike="noStrike">
                <a:solidFill>
                  <a:srgbClr val="D81B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铁路</a:t>
            </a:r>
            <a:r>
              <a:rPr lang="en-US" sz="1500" b="1" i="0" u="none" strike="noStrike">
                <a:solidFill>
                  <a:srgbClr val="D81B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大提速”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动车组正式投入运营，作为绝对主力，在京沪、京广等繁忙的铁路干线上飞驰，标志着我国铁路技术装备水平跻身世界先进行列。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953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E1F5FE">
              <a:alpha val="100000"/>
            </a:srgbClr>
          </a:solidFill>
          <a:ln w="25400" cap="flat" cmpd="sng">
            <a:solidFill>
              <a:srgbClr val="42A5F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5143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157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🎉 从此，中国进入了真正的“高铁时代”！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技术解密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683000"/>
            <a:ext cx="762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它为什么这么厉害？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3683000"/>
            <a:ext cx="1270000" cy="1270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546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揭开 CRH2A 跑得快、稳、节能背后的黑科技秘密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跑得快的秘密：强大的动力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EBF0F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CRH2A有8节车厢，其中4节是有动力的，就像我们跑步时有力的双腿。这4节车厢一起发力，就能让整列火车跑得飞快。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07000" cy="26670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6830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3683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动力来源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500"/>
              </a:spcBef>
            </a:pPr>
            <a:r>
              <a:rPr lang="en-US" sz="1800" b="0" i="0" u="none" strike="noStrike">
                <a:solidFill>
                  <a:srgbClr val="5A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</a:t>
            </a: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大功率牵引电机</a:t>
            </a:r>
            <a:r>
              <a:rPr lang="en-US" sz="1800" b="0" i="0" u="none" strike="noStrike">
                <a:solidFill>
                  <a:srgbClr val="5A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，为高速行驶提供源源不断的强劲动力。</a:t>
            </a:r>
            <a:endParaRPr lang="en-US" sz="1800" b="0" i="0" u="none" strike="noStrike">
              <a:solidFill>
                <a:srgbClr val="5A5F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26670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683000"/>
            <a:ext cx="812800" cy="812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36195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惊人的牵引功率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36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4800 千瓦</a:t>
            </a:r>
            <a:endParaRPr lang="en-US" sz="3600" b="1" i="0" u="none" strike="noStrike">
              <a:solidFill>
                <a:srgbClr val="42A5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A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相当于</a:t>
            </a:r>
            <a:r>
              <a:rPr lang="en-US" sz="1400" b="1" i="0" u="none" strike="noStrike">
                <a:solidFill>
                  <a:srgbClr val="5A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6000+ 辆</a:t>
            </a:r>
            <a:r>
              <a:rPr lang="en-US" sz="1400" b="0" i="0" u="none" strike="noStrike">
                <a:solidFill>
                  <a:srgbClr val="5A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家用小汽车的功率总和！</a:t>
            </a:r>
            <a:endParaRPr lang="en-US" sz="1400" b="0" i="0" u="none" strike="noStrike">
              <a:solidFill>
                <a:srgbClr val="5A5F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聪明的“大脑”：IGBT芯片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698" r="2698"/>
          <a:stretch>
            <a:fillRect/>
          </a:stretch>
        </p:blipFill>
        <p:spPr>
          <a:xfrm>
            <a:off x="952500" y="1968500"/>
            <a:ext cx="4699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495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高铁的“神经中枢”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虽微小，却决定列车的速度与安全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955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968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“大脑” vs “肌肉”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如果说牵引电机是高铁的“肌肉”，提供奔跑的力量，那么IGBT芯片就是它的“大脑”，负责发号施令。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342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7465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3619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精确的“指挥官”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作为关键的电子元件，它能精准调节电机的电流与电压，让高铁既跑得快，又能平稳、安全地加减速。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53975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5270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打破垄断的突破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这曾是国外严密封锁的核心技术，我国通过持续自主研发，成功掌握并实现国产化，实现了真正的“中国芯”。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走进车厢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4064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探索高铁内部的秘密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46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1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Let's Explore The Secrets Inside!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舒适的“移动客厅”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223000" y="1651000"/>
            <a:ext cx="266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048500" y="1879600"/>
            <a:ext cx="165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宽敞的空间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603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座椅之间的距离很大，伸腿很舒服，长途乘车也不会觉得压抑。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0" y="1651000"/>
            <a:ext cx="266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969500" y="1879600"/>
            <a:ext cx="165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可调节座椅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98000" y="2603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座椅靠背可灵活调节，还配有小桌板，无论是休息还是办公都很方便。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4000500"/>
            <a:ext cx="266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25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4229100"/>
            <a:ext cx="165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明亮的灯光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953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车厢内采用了柔和且充足的照明设计，环境温馨，缓解旅途的疲惫感。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4000500"/>
            <a:ext cx="266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425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969500" y="4229100"/>
            <a:ext cx="165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清洁的环境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98000" y="4953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有专门的保洁人员随时维护车厢卫生，时刻保持环境整洁，乘车更舒心。</a:t>
            </a:r>
            <a:endParaRPr lang="en-US" sz="1100"/>
          </a:p>
        </p:txBody>
      </p:sp>
      <p:pic>
        <p:nvPicPr>
          <p:cNvPr id="21" name="图片 20" descr="高铁内座位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1783080"/>
            <a:ext cx="5554345" cy="4164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神奇的驾驶舱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1778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2032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66000" y="1905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复杂的“大脑”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就像飞机驾驶舱一样，这里充满了各种精密的按钮和屏幕，时刻显示着列车的运行状态。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3429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3683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安全的守护者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驾驶员叔叔阿姨们时刻关注屏幕，精准操作，确保高铁安全、平稳、准时地把我们送达目的地。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5080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5334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5207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开阔的视野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巨大的前挡风玻璃提供了开阔的视野，驾驶员能清晰看到前方很远的轨道，从容应对路况。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 descr="高铁驾驶舱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335" y="2256790"/>
            <a:ext cx="5396230" cy="35979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庞大的“和谐号”家族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在CRH2A的基础上，我们还开发出了它的许多“兄弟姐妹”，组成了庞大的“和谐号”家族。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037" b="1037"/>
          <a:stretch>
            <a:fillRect/>
          </a:stretch>
        </p:blipFill>
        <p:spPr>
          <a:xfrm>
            <a:off x="952500" y="2349500"/>
            <a:ext cx="2921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952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CRH2B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16节长编组，容量更大，能一次运送更多旅客，是春运、国庆等大客流期间的主力担当。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4445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010" b="1010"/>
          <a:stretch>
            <a:fillRect/>
          </a:stretch>
        </p:blipFill>
        <p:spPr>
          <a:xfrm>
            <a:off x="4635500" y="2349500"/>
            <a:ext cx="2921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635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CRH2E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神奇的卧铺动车组！把高铁座位变成了舒适的铺位，让你在飞驰的列车上也能躺着睡个好觉。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8128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318500" y="2349500"/>
            <a:ext cx="2921000" cy="1905000"/>
          </a:xfrm>
          <a:prstGeom prst="roundRect">
            <a:avLst>
              <a:gd name="adj" fmla="val 5333"/>
            </a:avLst>
          </a:prstGeom>
          <a:solidFill>
            <a:srgbClr val="E1F0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8318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CRH2C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家族中的“速度型选手”，设计时速可达350公里/小时，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在京津城际最高试验速度为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370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公里每小时，综合实验中，最高时速是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394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公里每小时，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让你体验贴地飞行的快感。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 descr="CRH2C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9645" y="2409825"/>
            <a:ext cx="2379345" cy="1784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承前启后的“大功臣”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2A5F5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5991" b="15991"/>
          <a:stretch>
            <a:fillRect/>
          </a:stretch>
        </p:blipFill>
        <p:spPr>
          <a:xfrm>
            <a:off x="952500" y="1905000"/>
            <a:ext cx="48260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95985" y="439801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技术基石 · 孕育“复兴号”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826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CRH2A不仅是中国高铁早期的主力车型，更为我们积累了宝贵的经验和人才。通过学习、消化、吸收其技术，我们成功实现了从“引进”到“自主研发”的跨越，最终诞生了更先进的“复兴号”！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2A5F5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439801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辉煌起点 · 领跑世界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4826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一张蓝图绘到底！可以说，没有CRH2A打下的坚实基础，就没有今天四通八达、技术领跑全球的中国高铁网络。它是当之无愧的“开路先锋”和“大功臣”！</a:t>
            </a:r>
            <a:endParaRPr lang="en-US" sz="1100"/>
          </a:p>
        </p:txBody>
      </p:sp>
      <p:pic>
        <p:nvPicPr>
          <p:cNvPr id="13" name="图片 12" descr="中国高铁线路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440" y="1807845"/>
            <a:ext cx="3500120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现在，考验大家的时候到啦！看看谁听得最认真～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2A5F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765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032000" y="2286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Q1. CRH2A高铁的可爱外号叫什么？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5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答案：带鱼</a:t>
            </a:r>
            <a:endParaRPr lang="en-US" sz="1500" b="0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6223000" y="2032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2A5F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4765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7493000" y="2286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Q2. 它一共有几节车厢？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5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答案：8节</a:t>
            </a:r>
            <a:endParaRPr lang="en-US" sz="1500" b="0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2032000" y="457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</a:pPr>
            <a:endParaRPr lang="en-US" sz="1500" b="0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3"/>
            </p:custDataLst>
          </p:nvPr>
        </p:nvGrpSpPr>
        <p:grpSpPr>
          <a:xfrm>
            <a:off x="3260725" y="4368800"/>
            <a:ext cx="5207000" cy="2032000"/>
            <a:chOff x="9800" y="6800"/>
            <a:chExt cx="8200" cy="3200"/>
          </a:xfrm>
        </p:grpSpPr>
        <p:sp>
          <p:nvSpPr>
            <p:cNvPr id="13" name="AutoShape 13"/>
            <p:cNvSpPr/>
            <p:nvPr>
              <p:custDataLst>
                <p:tags r:id="rId14"/>
              </p:custDataLst>
            </p:nvPr>
          </p:nvSpPr>
          <p:spPr>
            <a:xfrm>
              <a:off x="9800" y="6800"/>
              <a:ext cx="8200" cy="3200"/>
            </a:xfrm>
            <a:prstGeom prst="roundRect">
              <a:avLst>
                <a:gd name="adj" fmla="val 7500"/>
              </a:avLst>
            </a:prstGeom>
            <a:solidFill>
              <a:srgbClr val="FFFFFF">
                <a:alpha val="90000"/>
              </a:srgbClr>
            </a:solidFill>
            <a:ln w="25400" cap="flat" cmpd="sng">
              <a:solidFill>
                <a:srgbClr val="42A5F5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4" name="Picture 1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200" y="7500"/>
              <a:ext cx="1280" cy="128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>
              <p:custDataLst>
                <p:tags r:id="rId18"/>
              </p:custDataLst>
            </p:nvPr>
          </p:nvSpPr>
          <p:spPr>
            <a:xfrm>
              <a:off x="11800" y="7200"/>
              <a:ext cx="5800" cy="141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Q3. CRH2A的“大脑”是什么？</a:t>
              </a:r>
              <a:endParaRPr lang="en-US" sz="1100"/>
            </a:p>
            <a:p>
              <a:pPr indent="0" algn="l">
                <a:lnSpc>
                  <a:spcPct val="125000"/>
                </a:lnSpc>
                <a:spcBef>
                  <a:spcPts val="1000"/>
                </a:spcBef>
              </a:pPr>
              <a:endParaRPr lang="en-US" sz="15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588510" y="5311775"/>
            <a:ext cx="6096000" cy="379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50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答案：IGBT芯片</a:t>
            </a:r>
            <a:endParaRPr lang="en-US" altLang="en-US" sz="150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42A5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445000" y="3175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谢谢大家！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期待与您下次同行 · 感受中国速度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0" y="3111500"/>
            <a:ext cx="812800" cy="81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0" y="311150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2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3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4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5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6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7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8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9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10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11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12.xml><?xml version="1.0" encoding="utf-8"?>
<p:tagLst xmlns:p="http://schemas.openxmlformats.org/presentationml/2006/main">
  <p:tag name="KSO_WM_DIAGRAM_VIRTUALLY_FRAME" val="{&quot;height&quot;:370,&quot;left&quot;:350,&quot;top&quot;:130,&quot;width&quot;:550}"/>
</p:tagLst>
</file>

<file path=ppt/tags/tag13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4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5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6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7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8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9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0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1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2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3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4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5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6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7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8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29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30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31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ags/tag32.xml><?xml version="1.0" encoding="utf-8"?>
<p:tagLst xmlns:p="http://schemas.openxmlformats.org/presentationml/2006/main">
  <p:tag name="KSO_WM_DIAGRAM_VIRTUALLY_FRAME" val="{&quot;height&quot;:344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WPS 演示</Application>
  <PresentationFormat/>
  <Paragraphs>205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古德里安</cp:lastModifiedBy>
  <cp:revision>10</cp:revision>
  <dcterms:created xsi:type="dcterms:W3CDTF">2026-05-03T03:01:00Z</dcterms:created>
  <dcterms:modified xsi:type="dcterms:W3CDTF">2026-05-03T04:05:43Z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6963B728686547458E378DCC52EBF881_13</vt:lpwstr>
  </property>
  <property fmtid="{D5CDD505-2E9C-101B-9397-08002B2CF9AE}" pid="3" name="KSOProductBuildVer">
    <vt:lpwstr>2052-12.1.0.25225</vt:lpwstr>
  </property>
</Properties>
</file>